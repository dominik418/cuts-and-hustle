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E1B8E31F-1C01-41FD-8600-C9F94C317C67}">
          <p14:sldIdLst>
            <p14:sldId id="256"/>
            <p14:sldId id="258"/>
            <p14:sldId id="259"/>
            <p14:sldId id="260"/>
            <p14:sldId id="267"/>
            <p14:sldId id="261"/>
            <p14:sldId id="262"/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9B6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E2180D-BDC5-DB75-8B30-E15D2E48C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6C25C82-350B-C526-C85B-4F486C08D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CA7A8A-9E3F-E339-A5A9-8348754C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31337C-9F06-0FD0-E70D-06D6FB64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ED6045-F661-32B5-4D27-19FB5B24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391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4B7C9A-4180-DA4A-AF23-AA476044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836D8B-FE19-106A-83A5-6E4CB0C30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A73CC68-169C-5B51-BA36-D3B50C8C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ECFC19-7A74-BBE1-224B-BA7830D8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46B717-BF24-372A-3231-260D8839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25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3629A4-C7BA-E70F-44E8-77494A55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89B0E33-B08D-A298-540C-7CCA7E1AA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7BB5EE-A189-A129-A380-768C1260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410B4A-1606-A942-EC98-C1628495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03FECAF-EFD3-E448-3205-D0F76C54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169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5C8755-F5E1-C0E6-308E-9FC26DF0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59CD38-AC2F-4F67-2042-D8D852816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9DCCA3B-CEE4-3730-AFA3-EB8BDCD73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EE9A1C7-DF29-1767-F340-183AFF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121D64E-CF5E-011E-C642-056B9763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C1EA93A-2137-E8DA-7504-1789E05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450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2FEA5B-4A1F-FC0D-7ADD-70C53D16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6E2C7BB-A9F2-0FE3-1FF9-20DE53818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AC6E2A7-5CE4-06EF-F22E-13C6571E2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0AAF0D5-032B-25F3-B67E-3562E249B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A0E443A-F63B-F267-0692-D11085552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F34D111-D127-3961-F24E-9F107933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17C2E2E-4970-DD59-73F9-97C0D62C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002BCDB-065D-1E42-587F-EE892A45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42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E1ADE2-C2B3-89A4-DA00-727E14E4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AF9CF5-B506-B9AE-84D3-1DC8334F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5097863-8963-0250-9290-CBA97F71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EA6EE9-5C84-BE83-9B8A-4EFFD9E0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43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E6C086A-6035-172C-7EEF-B02E231C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595FCB3-13C0-2214-AF9E-EC4A5D0C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A142A26-3F0A-5F53-1724-278FBA66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650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0EC5B9-AC3A-F0FA-2F7E-379A342F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E3F0C0-8B6E-C558-912D-9F7E37B09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ADB096F-D3D0-2FD8-8BDD-00362B4EC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C3EA625-3F08-E2A8-6B9A-DEFD70D1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CE868A-66E1-91DF-E593-C7B0F735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3D0C42C-CF77-E00D-D844-BA7911AF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03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6F3813-9AD4-FD47-77FD-C6309DC16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DA8A0D5-D19E-86D0-D8A3-B909010AA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A019DF7-477A-99D8-2CA1-77522FB41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5CAB252-6108-4ADC-DD5C-7E06ADBE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9B09F65-CA2F-0609-05A6-74E6F571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2D0DE08-C30C-8C7A-6783-5F56209D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071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EBC23D-51DF-07B0-19DD-50E88C66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630E7D6-515E-7A01-6F9B-D0EF67806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0D426D-EC13-2396-4D96-B6909055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35F25C-D946-74F2-0557-A2B464AA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893442-70FD-54F1-15E6-1F254792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537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C42B680-97D1-341C-3B96-D68B2B015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0E59792-FF24-BBDD-5904-295A5F2E1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190DF3-F992-FD73-BBD1-68AEC585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F1B0C2-B469-FAC5-3AF4-AAA99949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30E950-C5D7-3970-2DFC-48B407EE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09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1485D2E-EA56-E042-CAE2-C060230E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B53BCF8-9401-88DD-E679-897AEF27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FD244CB-EBB0-E3CC-FEE4-22EDF228F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6C7D7-5880-4672-B9B6-A3574269E21E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7422D5-C598-373E-2EEB-8BAEA83A1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9E18A6-F81A-DA48-48A7-40FCA9A1F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C627D-5A1E-4934-9E95-EB064D790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89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9C4CC5-51F8-5F55-0D46-8956C2E13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9B63"/>
                </a:solidFill>
              </a:rPr>
              <a:t>Cuts </a:t>
            </a:r>
            <a:r>
              <a:rPr lang="hu-HU" b="1" dirty="0">
                <a:solidFill>
                  <a:srgbClr val="C79B63"/>
                </a:solidFill>
              </a:rPr>
              <a:t>&amp;</a:t>
            </a:r>
            <a:r>
              <a:rPr lang="en-US" b="1">
                <a:solidFill>
                  <a:srgbClr val="C79B63"/>
                </a:solidFill>
              </a:rPr>
              <a:t> </a:t>
            </a:r>
            <a:r>
              <a:rPr lang="en-US" b="1" dirty="0">
                <a:solidFill>
                  <a:srgbClr val="C79B63"/>
                </a:solidFill>
              </a:rPr>
              <a:t>Hustle</a:t>
            </a:r>
            <a:endParaRPr lang="hu-HU" b="1" dirty="0">
              <a:solidFill>
                <a:srgbClr val="C79B63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4A40548-808F-00D9-DAF6-26DBC6C54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>
                <a:solidFill>
                  <a:srgbClr val="C79B63"/>
                </a:solidFill>
              </a:rPr>
              <a:t>Made</a:t>
            </a:r>
            <a:r>
              <a:rPr lang="hu-HU" dirty="0">
                <a:solidFill>
                  <a:srgbClr val="C79B63"/>
                </a:solidFill>
              </a:rPr>
              <a:t> </a:t>
            </a:r>
            <a:r>
              <a:rPr lang="hu-HU" dirty="0" err="1">
                <a:solidFill>
                  <a:srgbClr val="C79B63"/>
                </a:solidFill>
              </a:rPr>
              <a:t>by</a:t>
            </a:r>
            <a:r>
              <a:rPr lang="hu-HU" dirty="0">
                <a:solidFill>
                  <a:srgbClr val="C79B63"/>
                </a:solidFill>
              </a:rPr>
              <a:t>: Káldy Gergő, Sinka Dominik</a:t>
            </a:r>
          </a:p>
        </p:txBody>
      </p:sp>
    </p:spTree>
    <p:extLst>
      <p:ext uri="{BB962C8B-B14F-4D97-AF65-F5344CB8AC3E}">
        <p14:creationId xmlns:p14="http://schemas.microsoft.com/office/powerpoint/2010/main" val="416589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A69154-8F73-C321-3576-A93C269D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35" y="546652"/>
            <a:ext cx="5780987" cy="655983"/>
          </a:xfrm>
        </p:spPr>
        <p:txBody>
          <a:bodyPr>
            <a:noAutofit/>
          </a:bodyPr>
          <a:lstStyle/>
          <a:p>
            <a:r>
              <a:rPr lang="hu-HU" sz="4000" b="1" dirty="0" err="1">
                <a:solidFill>
                  <a:srgbClr val="C79B63"/>
                </a:solidFill>
              </a:rPr>
              <a:t>How</a:t>
            </a:r>
            <a:r>
              <a:rPr lang="hu-HU" sz="4000" b="1" dirty="0">
                <a:solidFill>
                  <a:srgbClr val="C79B63"/>
                </a:solidFill>
              </a:rPr>
              <a:t> </a:t>
            </a:r>
            <a:r>
              <a:rPr lang="hu-HU" sz="4000" b="1" dirty="0" err="1">
                <a:solidFill>
                  <a:srgbClr val="C79B63"/>
                </a:solidFill>
              </a:rPr>
              <a:t>we</a:t>
            </a:r>
            <a:r>
              <a:rPr lang="hu-HU" sz="4000" b="1" dirty="0">
                <a:solidFill>
                  <a:srgbClr val="C79B63"/>
                </a:solidFill>
              </a:rPr>
              <a:t> </a:t>
            </a:r>
            <a:r>
              <a:rPr lang="hu-HU" sz="4000" b="1" dirty="0" err="1">
                <a:solidFill>
                  <a:srgbClr val="C79B63"/>
                </a:solidFill>
              </a:rPr>
              <a:t>split</a:t>
            </a:r>
            <a:r>
              <a:rPr lang="hu-HU" sz="4000" b="1" dirty="0">
                <a:solidFill>
                  <a:srgbClr val="C79B63"/>
                </a:solidFill>
              </a:rPr>
              <a:t> </a:t>
            </a:r>
            <a:r>
              <a:rPr lang="hu-HU" sz="4000" b="1" dirty="0" err="1">
                <a:solidFill>
                  <a:srgbClr val="C79B63"/>
                </a:solidFill>
              </a:rPr>
              <a:t>the</a:t>
            </a:r>
            <a:r>
              <a:rPr lang="hu-HU" sz="4000" b="1" dirty="0">
                <a:solidFill>
                  <a:srgbClr val="C79B63"/>
                </a:solidFill>
              </a:rPr>
              <a:t> </a:t>
            </a:r>
            <a:r>
              <a:rPr lang="hu-HU" sz="4000" b="1" dirty="0" err="1">
                <a:solidFill>
                  <a:srgbClr val="C79B63"/>
                </a:solidFill>
              </a:rPr>
              <a:t>workforce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A295F37-8ACD-D9CB-E948-0FACB807C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423" y="874644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747537D-2CFA-5FEC-DA96-D711C3C52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3436" y="1600200"/>
            <a:ext cx="5474736" cy="4280728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rgbClr val="C79B63"/>
                </a:solidFill>
              </a:rPr>
              <a:t>Káldy Gergő:</a:t>
            </a:r>
            <a:br>
              <a:rPr lang="hu-HU" sz="2400" dirty="0">
                <a:solidFill>
                  <a:srgbClr val="C79B63"/>
                </a:solidFill>
              </a:rPr>
            </a:br>
            <a:r>
              <a:rPr lang="hu-HU" sz="2400" dirty="0">
                <a:solidFill>
                  <a:srgbClr val="C79B63"/>
                </a:solidFill>
              </a:rPr>
              <a:t>-</a:t>
            </a:r>
            <a:r>
              <a:rPr lang="hu-HU" sz="2400" dirty="0" err="1">
                <a:solidFill>
                  <a:srgbClr val="C79B63"/>
                </a:solidFill>
              </a:rPr>
              <a:t>MySQL</a:t>
            </a:r>
            <a:r>
              <a:rPr lang="hu-HU" sz="2400" dirty="0">
                <a:solidFill>
                  <a:srgbClr val="C79B63"/>
                </a:solidFill>
              </a:rPr>
              <a:t> </a:t>
            </a:r>
            <a:r>
              <a:rPr lang="hu-HU" sz="2400" dirty="0" err="1">
                <a:solidFill>
                  <a:srgbClr val="C79B63"/>
                </a:solidFill>
              </a:rPr>
              <a:t>Database</a:t>
            </a:r>
            <a:r>
              <a:rPr lang="hu-HU" sz="2400" dirty="0">
                <a:solidFill>
                  <a:srgbClr val="C79B63"/>
                </a:solidFill>
              </a:rPr>
              <a:t> </a:t>
            </a:r>
            <a:br>
              <a:rPr lang="hu-HU" sz="2400" dirty="0">
                <a:solidFill>
                  <a:srgbClr val="C79B63"/>
                </a:solidFill>
              </a:rPr>
            </a:br>
            <a:r>
              <a:rPr lang="hu-HU" sz="2400" dirty="0">
                <a:solidFill>
                  <a:srgbClr val="C79B63"/>
                </a:solidFill>
              </a:rPr>
              <a:t>-Frontend</a:t>
            </a:r>
            <a:br>
              <a:rPr lang="hu-HU" sz="2400" dirty="0">
                <a:solidFill>
                  <a:srgbClr val="C79B63"/>
                </a:solidFill>
              </a:rPr>
            </a:br>
            <a:br>
              <a:rPr lang="hu-HU" sz="2400" dirty="0">
                <a:solidFill>
                  <a:srgbClr val="C79B63"/>
                </a:solidFill>
              </a:rPr>
            </a:br>
            <a:br>
              <a:rPr lang="hu-HU" sz="2400" dirty="0">
                <a:solidFill>
                  <a:srgbClr val="C79B63"/>
                </a:solidFill>
              </a:rPr>
            </a:br>
            <a:r>
              <a:rPr lang="hu-HU" sz="2400" dirty="0">
                <a:solidFill>
                  <a:srgbClr val="C79B63"/>
                </a:solidFill>
              </a:rPr>
              <a:t>Sinka Dominik:</a:t>
            </a:r>
            <a:br>
              <a:rPr lang="hu-HU" sz="2400" dirty="0">
                <a:solidFill>
                  <a:srgbClr val="C79B63"/>
                </a:solidFill>
              </a:rPr>
            </a:br>
            <a:r>
              <a:rPr lang="hu-HU" sz="2400" dirty="0">
                <a:solidFill>
                  <a:srgbClr val="C79B63"/>
                </a:solidFill>
              </a:rPr>
              <a:t>-Backend</a:t>
            </a:r>
            <a:br>
              <a:rPr lang="hu-HU" sz="2400" dirty="0">
                <a:solidFill>
                  <a:srgbClr val="C79B63"/>
                </a:solidFill>
              </a:rPr>
            </a:br>
            <a:r>
              <a:rPr lang="hu-HU" sz="2400" dirty="0">
                <a:solidFill>
                  <a:srgbClr val="C79B63"/>
                </a:solidFill>
              </a:rPr>
              <a:t>-</a:t>
            </a:r>
            <a:r>
              <a:rPr lang="hu-HU" sz="2400" dirty="0" err="1">
                <a:solidFill>
                  <a:srgbClr val="C79B63"/>
                </a:solidFill>
              </a:rPr>
              <a:t>Javascript</a:t>
            </a:r>
            <a:endParaRPr lang="hu-HU" sz="24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467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F2E75-4629-66C7-959A-0577DC3F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5EB5C6-8C9E-95C5-ECD4-B1EBEB72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35" y="529811"/>
            <a:ext cx="5780987" cy="89452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What This Database Does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A738F2E-2DE8-F56F-D46C-C3EAE640F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423" y="874644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5C19655-F826-B5C3-7234-E3F91B7E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3435" y="1600200"/>
            <a:ext cx="5474737" cy="4280728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Manages a service-based business</a:t>
            </a:r>
            <a:b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</a:br>
            <a:r>
              <a:rPr lang="en-US" sz="2200" dirty="0">
                <a:solidFill>
                  <a:srgbClr val="C79B63"/>
                </a:solidFill>
              </a:rPr>
              <a:t>(barbershop)</a:t>
            </a:r>
          </a:p>
          <a:p>
            <a:endParaRPr lang="en-US" sz="2200" dirty="0">
              <a:solidFill>
                <a:srgbClr val="C79B63"/>
              </a:solidFill>
            </a:endParaRPr>
          </a:p>
          <a:p>
            <a:r>
              <a:rPr lang="en-US" sz="2200" dirty="0">
                <a:solidFill>
                  <a:srgbClr val="C79B63"/>
                </a:solidFill>
              </a:rPr>
              <a:t>Tracks:</a:t>
            </a:r>
          </a:p>
          <a:p>
            <a:r>
              <a:rPr lang="en-US" sz="2200" dirty="0">
                <a:solidFill>
                  <a:srgbClr val="C79B63"/>
                </a:solidFill>
              </a:rPr>
              <a:t>-employees</a:t>
            </a:r>
          </a:p>
          <a:p>
            <a:r>
              <a:rPr lang="en-US" sz="2200" dirty="0">
                <a:solidFill>
                  <a:srgbClr val="C79B63"/>
                </a:solidFill>
              </a:rPr>
              <a:t>-</a:t>
            </a:r>
            <a:r>
              <a:rPr lang="hu-HU" sz="2200" dirty="0" err="1">
                <a:solidFill>
                  <a:srgbClr val="C79B63"/>
                </a:solidFill>
                <a:ea typeface="+mn-lt"/>
                <a:cs typeface="+mn-lt"/>
              </a:rPr>
              <a:t>users</a:t>
            </a:r>
            <a:endParaRPr lang="en-US" sz="2200" dirty="0">
              <a:solidFill>
                <a:srgbClr val="C79B63"/>
              </a:solidFill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-services</a:t>
            </a:r>
          </a:p>
          <a:p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-appointments</a:t>
            </a:r>
          </a:p>
          <a:p>
            <a:endParaRPr lang="en-US" sz="2200" dirty="0">
              <a:solidFill>
                <a:srgbClr val="C79B63"/>
              </a:solidFill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Contains 4 core tables: 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employees, </a:t>
            </a:r>
            <a:r>
              <a:rPr lang="hu-HU" sz="2200" b="1" dirty="0" err="1">
                <a:solidFill>
                  <a:srgbClr val="C79B63"/>
                </a:solidFill>
                <a:ea typeface="+mn-lt"/>
                <a:cs typeface="+mn-lt"/>
              </a:rPr>
              <a:t>users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, appointments, services</a:t>
            </a:r>
          </a:p>
          <a:p>
            <a:endParaRPr lang="hu-HU" sz="22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3840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EC7CD-E4E9-7FDD-8862-1DC54201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09D4C1-9F48-A5A3-204A-34605FDF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98" y="281333"/>
            <a:ext cx="5555974" cy="9144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Storing Employee Info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0D4A649-D1DB-C222-B8F5-81FBA39CF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2198" y="1288636"/>
            <a:ext cx="5555974" cy="4280728"/>
          </a:xfrm>
        </p:spPr>
        <p:txBody>
          <a:bodyPr>
            <a:noAutofit/>
          </a:bodyPr>
          <a:lstStyle/>
          <a:p>
            <a:pPr>
              <a:buFont typeface=""/>
              <a:buChar char="•"/>
            </a:pPr>
            <a:r>
              <a:rPr lang="en-US" sz="2200" dirty="0">
                <a:solidFill>
                  <a:srgbClr val="C79B63"/>
                </a:solidFill>
              </a:rPr>
              <a:t>Important employee information stored in the Database: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en-US" sz="2200" b="1" dirty="0">
                <a:solidFill>
                  <a:srgbClr val="C79B63"/>
                </a:solidFill>
              </a:rPr>
              <a:t>Id:</a:t>
            </a:r>
            <a:r>
              <a:rPr lang="en-US" sz="2200" dirty="0">
                <a:solidFill>
                  <a:srgbClr val="C79B63"/>
                </a:solidFill>
              </a:rPr>
              <a:t> Auto-generated ID for each employee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en-US" sz="2200" b="1" dirty="0">
                <a:solidFill>
                  <a:srgbClr val="C79B63"/>
                </a:solidFill>
              </a:rPr>
              <a:t>Name:</a:t>
            </a:r>
            <a:r>
              <a:rPr lang="en-US" sz="2200" dirty="0">
                <a:solidFill>
                  <a:srgbClr val="C79B63"/>
                </a:solidFill>
              </a:rPr>
              <a:t> Required, up to 100 characters, easy to update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en-US" sz="2200" b="1" dirty="0">
                <a:solidFill>
                  <a:srgbClr val="C79B63"/>
                </a:solidFill>
              </a:rPr>
              <a:t>Phone:</a:t>
            </a:r>
            <a:r>
              <a:rPr lang="en-US" sz="2200" dirty="0">
                <a:solidFill>
                  <a:srgbClr val="C79B63"/>
                </a:solidFill>
              </a:rPr>
              <a:t> Optional contact number for the manager to use, easy to update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hu-HU" sz="2200" b="1" dirty="0">
                <a:solidFill>
                  <a:srgbClr val="C79B63"/>
                </a:solidFill>
              </a:rPr>
              <a:t>Email</a:t>
            </a:r>
            <a:r>
              <a:rPr lang="en-US" sz="2200" b="1" dirty="0">
                <a:solidFill>
                  <a:srgbClr val="C79B63"/>
                </a:solidFill>
              </a:rPr>
              <a:t>: </a:t>
            </a:r>
            <a:r>
              <a:rPr lang="hu-HU" sz="2200" dirty="0" err="1">
                <a:solidFill>
                  <a:srgbClr val="C79B63"/>
                </a:solidFill>
              </a:rPr>
              <a:t>Required</a:t>
            </a:r>
            <a:r>
              <a:rPr lang="hu-HU" sz="2200" dirty="0">
                <a:solidFill>
                  <a:srgbClr val="C79B63"/>
                </a:solidFill>
              </a:rPr>
              <a:t>, </a:t>
            </a:r>
            <a:r>
              <a:rPr lang="hu-HU" sz="2200" dirty="0" err="1">
                <a:solidFill>
                  <a:srgbClr val="C79B63"/>
                </a:solidFill>
              </a:rPr>
              <a:t>up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to</a:t>
            </a:r>
            <a:r>
              <a:rPr lang="hu-HU" sz="2200" dirty="0">
                <a:solidFill>
                  <a:srgbClr val="C79B63"/>
                </a:solidFill>
              </a:rPr>
              <a:t> 100 </a:t>
            </a:r>
            <a:r>
              <a:rPr lang="hu-HU" sz="2200" dirty="0" err="1">
                <a:solidFill>
                  <a:srgbClr val="C79B63"/>
                </a:solidFill>
              </a:rPr>
              <a:t>characters</a:t>
            </a:r>
            <a:endParaRPr lang="en-US" sz="2200" dirty="0">
              <a:solidFill>
                <a:srgbClr val="C79B63"/>
              </a:solidFill>
            </a:endParaRPr>
          </a:p>
          <a:p>
            <a:endParaRPr lang="hu-HU" sz="22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0347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4A19A-5FC0-A76D-F2F4-73779975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45CA3B-6BCE-E189-CB39-F9A32886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98" y="92797"/>
            <a:ext cx="5555974" cy="9144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Storing </a:t>
            </a:r>
            <a:r>
              <a:rPr lang="hu-HU" sz="4000" b="1" dirty="0" err="1">
                <a:solidFill>
                  <a:srgbClr val="C79B63"/>
                </a:solidFill>
                <a:ea typeface="+mj-lt"/>
                <a:cs typeface="+mj-lt"/>
              </a:rPr>
              <a:t>User</a:t>
            </a:r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 Info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75208F0-B86B-D465-A37E-26866809A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2198" y="1090673"/>
            <a:ext cx="5555974" cy="5602358"/>
          </a:xfrm>
        </p:spPr>
        <p:txBody>
          <a:bodyPr>
            <a:noAutofit/>
          </a:bodyPr>
          <a:lstStyle/>
          <a:p>
            <a:pPr>
              <a:buFont typeface=""/>
              <a:buChar char="•"/>
            </a:pPr>
            <a:r>
              <a:rPr lang="en-US" sz="2200" dirty="0">
                <a:solidFill>
                  <a:srgbClr val="C79B63"/>
                </a:solidFill>
              </a:rPr>
              <a:t>Important </a:t>
            </a:r>
            <a:r>
              <a:rPr lang="hu-HU" sz="2200" dirty="0" err="1">
                <a:solidFill>
                  <a:srgbClr val="C79B63"/>
                </a:solidFill>
              </a:rPr>
              <a:t>user</a:t>
            </a:r>
            <a:r>
              <a:rPr lang="en-US" sz="2200" dirty="0">
                <a:solidFill>
                  <a:srgbClr val="C79B63"/>
                </a:solidFill>
              </a:rPr>
              <a:t> information stored in the Database: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en-US" sz="2200" b="1" dirty="0">
                <a:solidFill>
                  <a:srgbClr val="C79B63"/>
                </a:solidFill>
              </a:rPr>
              <a:t>Id:</a:t>
            </a:r>
            <a:r>
              <a:rPr lang="en-US" sz="2200" dirty="0">
                <a:solidFill>
                  <a:srgbClr val="C79B63"/>
                </a:solidFill>
              </a:rPr>
              <a:t> Auto-generated ID for each </a:t>
            </a:r>
            <a:r>
              <a:rPr lang="hu-HU" sz="2200" dirty="0" err="1">
                <a:solidFill>
                  <a:srgbClr val="C79B63"/>
                </a:solidFill>
              </a:rPr>
              <a:t>user</a:t>
            </a: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en-US" sz="2200" b="1" dirty="0">
                <a:solidFill>
                  <a:srgbClr val="C79B63"/>
                </a:solidFill>
              </a:rPr>
              <a:t>Name:</a:t>
            </a:r>
            <a:r>
              <a:rPr lang="en-US" sz="2200" dirty="0">
                <a:solidFill>
                  <a:srgbClr val="C79B63"/>
                </a:solidFill>
              </a:rPr>
              <a:t> Required, up to 100 characters, easy to update</a:t>
            </a:r>
          </a:p>
          <a:p>
            <a:pPr>
              <a:buFont typeface="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hu-HU" sz="2200" b="1" dirty="0" err="1">
                <a:solidFill>
                  <a:srgbClr val="C79B63"/>
                </a:solidFill>
              </a:rPr>
              <a:t>Password</a:t>
            </a:r>
            <a:r>
              <a:rPr lang="hu-HU" sz="2200" b="1" dirty="0">
                <a:solidFill>
                  <a:srgbClr val="C79B63"/>
                </a:solidFill>
              </a:rPr>
              <a:t>: </a:t>
            </a:r>
            <a:r>
              <a:rPr lang="hu-HU" sz="2200" dirty="0" err="1">
                <a:solidFill>
                  <a:srgbClr val="C79B63"/>
                </a:solidFill>
              </a:rPr>
              <a:t>Protected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by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bcrypt</a:t>
            </a:r>
            <a:r>
              <a:rPr lang="hu-HU" sz="2200" dirty="0">
                <a:solidFill>
                  <a:srgbClr val="C79B63"/>
                </a:solidFill>
              </a:rPr>
              <a:t>, </a:t>
            </a:r>
            <a:r>
              <a:rPr lang="hu-HU" sz="2200" dirty="0" err="1">
                <a:solidFill>
                  <a:srgbClr val="C79B63"/>
                </a:solidFill>
              </a:rPr>
              <a:t>cannot</a:t>
            </a:r>
            <a:r>
              <a:rPr lang="hu-HU" sz="2200" dirty="0">
                <a:solidFill>
                  <a:srgbClr val="C79B63"/>
                </a:solidFill>
              </a:rPr>
              <a:t> be </a:t>
            </a:r>
            <a:r>
              <a:rPr lang="hu-HU" sz="2200" dirty="0" err="1">
                <a:solidFill>
                  <a:srgbClr val="C79B63"/>
                </a:solidFill>
              </a:rPr>
              <a:t>seen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from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the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database</a:t>
            </a:r>
            <a:br>
              <a:rPr lang="hu-HU" sz="2200" dirty="0">
                <a:solidFill>
                  <a:srgbClr val="C79B63"/>
                </a:solidFill>
              </a:rPr>
            </a:br>
            <a:br>
              <a:rPr lang="hu-HU" sz="2200" dirty="0">
                <a:solidFill>
                  <a:srgbClr val="C79B63"/>
                </a:solidFill>
              </a:rPr>
            </a:br>
            <a:r>
              <a:rPr lang="hu-HU" sz="2200" b="1" dirty="0" err="1">
                <a:solidFill>
                  <a:srgbClr val="C79B63"/>
                </a:solidFill>
              </a:rPr>
              <a:t>Role</a:t>
            </a:r>
            <a:r>
              <a:rPr lang="hu-HU" sz="2200" b="1" dirty="0">
                <a:solidFill>
                  <a:srgbClr val="C79B63"/>
                </a:solidFill>
              </a:rPr>
              <a:t>:</a:t>
            </a:r>
            <a:r>
              <a:rPr lang="hu-HU" sz="2200" dirty="0">
                <a:solidFill>
                  <a:srgbClr val="C79B63"/>
                </a:solidFill>
              </a:rPr>
              <a:t> ENUM </a:t>
            </a:r>
            <a:r>
              <a:rPr lang="hu-HU" sz="2200" dirty="0" err="1">
                <a:solidFill>
                  <a:srgbClr val="C79B63"/>
                </a:solidFill>
              </a:rPr>
              <a:t>role</a:t>
            </a:r>
            <a:r>
              <a:rPr lang="hu-HU" sz="2200" dirty="0">
                <a:solidFill>
                  <a:srgbClr val="C79B63"/>
                </a:solidFill>
              </a:rPr>
              <a:t> is </a:t>
            </a:r>
            <a:r>
              <a:rPr lang="hu-HU" sz="2200" dirty="0" err="1">
                <a:solidFill>
                  <a:srgbClr val="C79B63"/>
                </a:solidFill>
              </a:rPr>
              <a:t>active</a:t>
            </a:r>
            <a:r>
              <a:rPr lang="hu-HU" sz="2200" dirty="0">
                <a:solidFill>
                  <a:srgbClr val="C79B63"/>
                </a:solidFill>
              </a:rPr>
              <a:t>, (</a:t>
            </a:r>
            <a:r>
              <a:rPr lang="hu-HU" sz="2200" dirty="0" err="1">
                <a:solidFill>
                  <a:srgbClr val="C79B63"/>
                </a:solidFill>
              </a:rPr>
              <a:t>e.g</a:t>
            </a:r>
            <a:r>
              <a:rPr lang="hu-HU" sz="2200" dirty="0">
                <a:solidFill>
                  <a:srgbClr val="C79B63"/>
                </a:solidFill>
              </a:rPr>
              <a:t>: „</a:t>
            </a:r>
            <a:r>
              <a:rPr lang="hu-HU" sz="2200" dirty="0" err="1">
                <a:solidFill>
                  <a:srgbClr val="C79B63"/>
                </a:solidFill>
              </a:rPr>
              <a:t>customer</a:t>
            </a:r>
            <a:r>
              <a:rPr lang="hu-HU" sz="2200" dirty="0">
                <a:solidFill>
                  <a:srgbClr val="C79B63"/>
                </a:solidFill>
              </a:rPr>
              <a:t>” </a:t>
            </a:r>
            <a:r>
              <a:rPr lang="hu-HU" sz="2200" dirty="0" err="1">
                <a:solidFill>
                  <a:srgbClr val="C79B63"/>
                </a:solidFill>
              </a:rPr>
              <a:t>users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can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only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access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the</a:t>
            </a:r>
            <a:r>
              <a:rPr lang="hu-HU" sz="2200" dirty="0">
                <a:solidFill>
                  <a:srgbClr val="C79B63"/>
                </a:solidFill>
              </a:rPr>
              <a:t> main website) </a:t>
            </a:r>
            <a:br>
              <a:rPr lang="hu-HU" sz="2200" dirty="0">
                <a:solidFill>
                  <a:srgbClr val="C79B63"/>
                </a:solidFill>
              </a:rPr>
            </a:br>
            <a:endParaRPr lang="hu-HU" sz="2200" dirty="0">
              <a:solidFill>
                <a:srgbClr val="C79B63"/>
              </a:solidFill>
            </a:endParaRPr>
          </a:p>
          <a:p>
            <a:pPr>
              <a:buFont typeface=""/>
              <a:buChar char="•"/>
            </a:pPr>
            <a:r>
              <a:rPr lang="hu-HU" sz="2200" b="1" dirty="0">
                <a:solidFill>
                  <a:srgbClr val="C79B63"/>
                </a:solidFill>
              </a:rPr>
              <a:t>Email</a:t>
            </a:r>
            <a:r>
              <a:rPr lang="en-US" sz="2200" b="1" dirty="0">
                <a:solidFill>
                  <a:srgbClr val="C79B63"/>
                </a:solidFill>
              </a:rPr>
              <a:t>: </a:t>
            </a:r>
            <a:r>
              <a:rPr lang="hu-HU" sz="2200" dirty="0" err="1">
                <a:solidFill>
                  <a:srgbClr val="C79B63"/>
                </a:solidFill>
              </a:rPr>
              <a:t>Required</a:t>
            </a:r>
            <a:r>
              <a:rPr lang="hu-HU" sz="2200" dirty="0">
                <a:solidFill>
                  <a:srgbClr val="C79B63"/>
                </a:solidFill>
              </a:rPr>
              <a:t>, </a:t>
            </a:r>
            <a:r>
              <a:rPr lang="hu-HU" sz="2200" dirty="0" err="1">
                <a:solidFill>
                  <a:srgbClr val="C79B63"/>
                </a:solidFill>
              </a:rPr>
              <a:t>up</a:t>
            </a:r>
            <a:r>
              <a:rPr lang="hu-HU" sz="2200" dirty="0">
                <a:solidFill>
                  <a:srgbClr val="C79B63"/>
                </a:solidFill>
              </a:rPr>
              <a:t> </a:t>
            </a:r>
            <a:r>
              <a:rPr lang="hu-HU" sz="2200" dirty="0" err="1">
                <a:solidFill>
                  <a:srgbClr val="C79B63"/>
                </a:solidFill>
              </a:rPr>
              <a:t>to</a:t>
            </a:r>
            <a:r>
              <a:rPr lang="hu-HU" sz="2200" dirty="0">
                <a:solidFill>
                  <a:srgbClr val="C79B63"/>
                </a:solidFill>
              </a:rPr>
              <a:t> 100 </a:t>
            </a:r>
            <a:r>
              <a:rPr lang="hu-HU" sz="2200" dirty="0" err="1">
                <a:solidFill>
                  <a:srgbClr val="C79B63"/>
                </a:solidFill>
              </a:rPr>
              <a:t>characters</a:t>
            </a:r>
            <a:endParaRPr lang="en-US" sz="2200" dirty="0">
              <a:solidFill>
                <a:srgbClr val="C79B63"/>
              </a:solidFill>
            </a:endParaRPr>
          </a:p>
          <a:p>
            <a:endParaRPr lang="hu-HU" sz="22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82868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1B105-AE6F-3733-088B-57B0D7AC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331A7D-5E51-B981-F79E-A1FFDBCE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422413"/>
            <a:ext cx="6380920" cy="90446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What the Services table offer</a:t>
            </a:r>
            <a:r>
              <a:rPr lang="hu-HU" sz="4000" b="1" dirty="0">
                <a:solidFill>
                  <a:srgbClr val="C79B63"/>
                </a:solidFill>
                <a:ea typeface="+mj-lt"/>
                <a:cs typeface="+mj-lt"/>
              </a:rPr>
              <a:t>s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9EB9084-DA7E-8ABC-04C4-F4D5D7BFB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142324" y="1288636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1226B39-CFDB-A608-43A4-17B8CCCF7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6166" y="1600200"/>
            <a:ext cx="5682006" cy="428072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C79B63"/>
                </a:solidFill>
                <a:latin typeface="Consolas"/>
              </a:rPr>
              <a:t>id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— ID per service</a:t>
            </a: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C79B63"/>
              </a:solidFill>
              <a:latin typeface="Univers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C79B63"/>
                </a:solidFill>
                <a:latin typeface="Consolas"/>
              </a:rPr>
              <a:t>name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— Service name, up to 50 characters (e.g. "Haircut")</a:t>
            </a: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C79B63"/>
              </a:solidFill>
              <a:latin typeface="Univers Ligh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duration_minutes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— How long the service takes</a:t>
            </a: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>
                <a:solidFill>
                  <a:srgbClr val="C79B63"/>
                </a:solidFill>
                <a:latin typeface="Consolas"/>
              </a:rPr>
              <a:t>price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— Cost of the service (stored as a whole number/integer)</a:t>
            </a:r>
            <a:b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</a:br>
            <a:endParaRPr lang="hu-HU" sz="2200" dirty="0">
              <a:solidFill>
                <a:srgbClr val="C79B6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hu-HU" sz="2200" b="1" dirty="0" err="1">
                <a:solidFill>
                  <a:srgbClr val="C79B63"/>
                </a:solidFill>
                <a:ea typeface="+mn-lt"/>
                <a:cs typeface="+mn-lt"/>
              </a:rPr>
              <a:t>Pictures</a:t>
            </a:r>
            <a:r>
              <a:rPr lang="hu-HU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—</a:t>
            </a:r>
            <a: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200" dirty="0" err="1">
                <a:solidFill>
                  <a:srgbClr val="C79B63"/>
                </a:solidFill>
                <a:ea typeface="+mn-lt"/>
                <a:cs typeface="+mn-lt"/>
              </a:rPr>
              <a:t>Stored</a:t>
            </a:r>
            <a: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  <a:t> in LONGBLOB</a:t>
            </a:r>
            <a:endParaRPr lang="en-US" sz="2200" b="1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</a:endParaRPr>
          </a:p>
          <a:p>
            <a:endParaRPr lang="hu-HU" sz="22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9964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BA22D-5DCB-DDDD-FD7C-C2A8993F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4FAAD-EBD4-38F2-C2AE-EFF7290F9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43" y="90631"/>
            <a:ext cx="5474736" cy="96409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Booking an Appointment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6CFE2D2-A12B-A8A3-ECD0-2F665AD99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423" y="874644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8729F2-5A11-B1E0-2DFA-66F879401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7343" y="1166087"/>
            <a:ext cx="5474736" cy="4280728"/>
          </a:xfrm>
        </p:spPr>
        <p:txBody>
          <a:bodyPr>
            <a:noAutofit/>
          </a:bodyPr>
          <a:lstStyle/>
          <a:p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customer_name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+ </a:t>
            </a:r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customer_phone</a:t>
            </a:r>
            <a:r>
              <a:rPr lang="en-US" sz="2200" b="1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Who is booking</a:t>
            </a:r>
            <a:endParaRPr lang="en-US" sz="2200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  <a:latin typeface="Univers Light"/>
            </a:endParaRPr>
          </a:p>
          <a:p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employee_id</a:t>
            </a:r>
            <a:r>
              <a:rPr lang="en-US" sz="2200" b="1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Links to the</a:t>
            </a:r>
            <a: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200" dirty="0" err="1">
                <a:solidFill>
                  <a:srgbClr val="C79B63"/>
                </a:solidFill>
                <a:ea typeface="+mn-lt"/>
                <a:cs typeface="+mn-lt"/>
              </a:rPr>
              <a:t>unique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latin typeface="Consolas"/>
              </a:rPr>
              <a:t>employees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table (who's doing the service)</a:t>
            </a:r>
            <a:endParaRPr lang="en-US" sz="2200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  <a:latin typeface="Univers Light"/>
            </a:endParaRPr>
          </a:p>
          <a:p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service_id</a:t>
            </a:r>
            <a:r>
              <a:rPr lang="en-US" sz="2200" b="1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Links to the </a:t>
            </a:r>
            <a:r>
              <a:rPr lang="en-US" sz="2200" dirty="0">
                <a:solidFill>
                  <a:srgbClr val="C79B63"/>
                </a:solidFill>
                <a:latin typeface="Consolas"/>
              </a:rPr>
              <a:t>services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 table (what's being done)</a:t>
            </a:r>
            <a:endParaRPr lang="en-US" sz="2200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  <a:latin typeface="Univers Light"/>
            </a:endParaRPr>
          </a:p>
          <a:p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appointment_date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+ </a:t>
            </a:r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appointment_time</a:t>
            </a:r>
            <a:r>
              <a:rPr lang="en-US" sz="2200" b="1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: 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When it's scheduled</a:t>
            </a:r>
            <a: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  <a:t>(</a:t>
            </a:r>
            <a:r>
              <a:rPr lang="hu-HU" sz="2200" dirty="0" err="1">
                <a:solidFill>
                  <a:srgbClr val="C79B63"/>
                </a:solidFill>
                <a:ea typeface="+mn-lt"/>
                <a:cs typeface="+mn-lt"/>
              </a:rPr>
              <a:t>unique</a:t>
            </a:r>
            <a: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  <a:t>)</a:t>
            </a:r>
            <a:endParaRPr lang="en-US" sz="2200" dirty="0">
              <a:solidFill>
                <a:srgbClr val="C79B63"/>
              </a:solidFill>
              <a:ea typeface="+mn-lt"/>
              <a:cs typeface="+mn-lt"/>
            </a:endParaRPr>
          </a:p>
          <a:p>
            <a:endParaRPr lang="en-US" sz="2200" dirty="0">
              <a:solidFill>
                <a:srgbClr val="C79B63"/>
              </a:solidFill>
            </a:endParaRPr>
          </a:p>
          <a:p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created_at</a:t>
            </a:r>
            <a:r>
              <a:rPr lang="en-US" sz="2200" b="1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: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Automatically records when the booking was made</a:t>
            </a:r>
            <a:endParaRPr lang="en-US" sz="2200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</a:endParaRPr>
          </a:p>
          <a:p>
            <a:endParaRPr lang="hu-HU" sz="22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4996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99EC2-0280-6786-4F4F-AF93A7B4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840AA2-960F-24F7-2F71-0D8B41D2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37" y="271394"/>
            <a:ext cx="5700023" cy="89452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How Tables Connect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5FC82AB-D2C3-E291-8554-5E00A19EF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937" y="1702628"/>
            <a:ext cx="6572941" cy="3379305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appointments.employee_id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→ </a:t>
            </a:r>
            <a:r>
              <a:rPr lang="en-US" sz="2200" b="1" dirty="0">
                <a:solidFill>
                  <a:srgbClr val="C79B63"/>
                </a:solidFill>
                <a:latin typeface="Consolas"/>
              </a:rPr>
              <a:t>employees.id</a:t>
            </a:r>
            <a:br>
              <a:rPr lang="hu-HU" sz="2200" dirty="0">
                <a:solidFill>
                  <a:srgbClr val="C79B63"/>
                </a:solidFill>
                <a:latin typeface="Consolas"/>
              </a:rPr>
            </a:b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 err="1">
                <a:solidFill>
                  <a:srgbClr val="C79B63"/>
                </a:solidFill>
                <a:latin typeface="Consolas"/>
              </a:rPr>
              <a:t>appointments.service_id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 → </a:t>
            </a:r>
            <a:r>
              <a:rPr lang="en-US" sz="2200" b="1" dirty="0">
                <a:solidFill>
                  <a:srgbClr val="C79B63"/>
                </a:solidFill>
                <a:latin typeface="Consolas"/>
              </a:rPr>
              <a:t>services.id</a:t>
            </a:r>
            <a:br>
              <a:rPr lang="hu-HU" sz="2200" dirty="0">
                <a:solidFill>
                  <a:srgbClr val="C79B63"/>
                </a:solidFill>
                <a:latin typeface="Consolas"/>
              </a:rPr>
            </a:b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</a:pP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This ensures you can't book an appointment with a nonexistent employee or service</a:t>
            </a:r>
            <a:br>
              <a:rPr lang="hu-HU" sz="22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2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</a:pPr>
            <a:r>
              <a:rPr lang="en-US" sz="2200" dirty="0">
                <a:solidFill>
                  <a:srgbClr val="C79B63"/>
                </a:solidFill>
                <a:ea typeface="+mn-lt"/>
                <a:cs typeface="+mn-lt"/>
              </a:rPr>
              <a:t>These are called </a:t>
            </a:r>
            <a:r>
              <a:rPr lang="en-US" sz="2200" b="1" dirty="0">
                <a:solidFill>
                  <a:srgbClr val="C79B63"/>
                </a:solidFill>
                <a:ea typeface="+mn-lt"/>
                <a:cs typeface="+mn-lt"/>
              </a:rPr>
              <a:t>foreign key constraints</a:t>
            </a:r>
            <a:endParaRPr lang="en-US" sz="2200" dirty="0">
              <a:solidFill>
                <a:srgbClr val="C79B63"/>
              </a:solidFill>
            </a:endParaRPr>
          </a:p>
          <a:p>
            <a:endParaRPr lang="en-US" sz="2200" dirty="0">
              <a:solidFill>
                <a:srgbClr val="C79B63"/>
              </a:solidFill>
            </a:endParaRPr>
          </a:p>
          <a:p>
            <a:endParaRPr lang="hu-HU" sz="2200" dirty="0">
              <a:solidFill>
                <a:srgbClr val="C79B63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F05A6F12-53BA-CA0A-4955-CCEDDF7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14" y="496957"/>
            <a:ext cx="5178150" cy="567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4969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E71CF-52F0-740E-3037-EB531A2F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73DD6D-6B9D-C54A-A5FA-0269C767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52" y="102428"/>
            <a:ext cx="7141335" cy="16002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Booking Flow </a:t>
            </a:r>
            <a:r>
              <a:rPr lang="hu-HU" sz="4000" b="1" dirty="0">
                <a:solidFill>
                  <a:srgbClr val="C79B63"/>
                </a:solidFill>
                <a:ea typeface="+mj-lt"/>
                <a:cs typeface="+mj-lt"/>
              </a:rPr>
              <a:t>-</a:t>
            </a:r>
            <a:br>
              <a:rPr lang="hu-HU" sz="4000" b="1" dirty="0">
                <a:solidFill>
                  <a:srgbClr val="C79B63"/>
                </a:solidFill>
                <a:ea typeface="+mj-lt"/>
                <a:cs typeface="+mj-lt"/>
              </a:rPr>
            </a:br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What Happens Behind the Scenes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7FEB11D-FDE7-FCCF-456D-C4C7E0957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423" y="874644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39A22C-4141-5D2C-6CF6-2C314394B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552" y="1828800"/>
            <a:ext cx="5756620" cy="4280728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A customer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views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and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decides</a:t>
            </a: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on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a service, it looks up the </a:t>
            </a:r>
            <a:r>
              <a:rPr lang="en-US" sz="2000" dirty="0">
                <a:solidFill>
                  <a:srgbClr val="C79B63"/>
                </a:solidFill>
                <a:latin typeface="Consolas"/>
              </a:rPr>
              <a:t>services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table for the </a:t>
            </a:r>
            <a:r>
              <a:rPr lang="en-US" sz="2000" dirty="0" err="1">
                <a:solidFill>
                  <a:srgbClr val="C79B63"/>
                </a:solidFill>
                <a:latin typeface="Consolas"/>
              </a:rPr>
              <a:t>service_id</a:t>
            </a:r>
            <a:br>
              <a:rPr lang="hu-HU" sz="2000" dirty="0">
                <a:solidFill>
                  <a:srgbClr val="C79B63"/>
                </a:solidFill>
                <a:latin typeface="Consolas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They pick an employee, it looks up </a:t>
            </a:r>
            <a:r>
              <a:rPr lang="en-US" sz="2000" dirty="0">
                <a:solidFill>
                  <a:srgbClr val="C79B63"/>
                </a:solidFill>
                <a:latin typeface="Consolas"/>
                <a:ea typeface="+mn-lt"/>
                <a:cs typeface="+mn-lt"/>
              </a:rPr>
              <a:t>the</a:t>
            </a:r>
            <a:r>
              <a:rPr lang="en-US" sz="2000" dirty="0">
                <a:solidFill>
                  <a:srgbClr val="C79B63"/>
                </a:solidFill>
                <a:latin typeface="Consolas"/>
              </a:rPr>
              <a:t> employees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table for the </a:t>
            </a:r>
            <a:r>
              <a:rPr lang="en-US" sz="2000" dirty="0" err="1">
                <a:solidFill>
                  <a:srgbClr val="C79B63"/>
                </a:solidFill>
                <a:latin typeface="Consolas"/>
              </a:rPr>
              <a:t>employee_id</a:t>
            </a:r>
            <a:br>
              <a:rPr lang="hu-HU" sz="2000" dirty="0">
                <a:solidFill>
                  <a:srgbClr val="C79B63"/>
                </a:solidFill>
                <a:latin typeface="Consolas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A new row is inserted into </a:t>
            </a:r>
            <a:r>
              <a:rPr lang="en-US" sz="2000" dirty="0">
                <a:solidFill>
                  <a:srgbClr val="C79B63"/>
                </a:solidFill>
                <a:latin typeface="Consolas"/>
              </a:rPr>
              <a:t>appointments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with the customer's info, the chosen </a:t>
            </a:r>
            <a:r>
              <a:rPr lang="en-US" sz="2000" dirty="0" err="1">
                <a:solidFill>
                  <a:srgbClr val="C79B63"/>
                </a:solidFill>
                <a:latin typeface="Consolas"/>
              </a:rPr>
              <a:t>employee_id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C79B63"/>
                </a:solidFill>
                <a:latin typeface="Consolas"/>
              </a:rPr>
              <a:t>service_id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, date, and time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b="1" dirty="0">
              <a:solidFill>
                <a:srgbClr val="C79B63"/>
              </a:solidFill>
              <a:latin typeface="Univers Light"/>
            </a:endParaRPr>
          </a:p>
          <a:p>
            <a:r>
              <a:rPr lang="en-US" sz="2000" dirty="0" err="1">
                <a:solidFill>
                  <a:srgbClr val="C79B63"/>
                </a:solidFill>
                <a:latin typeface="Consolas"/>
              </a:rPr>
              <a:t>created_at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is auto-filled with the current timestamp (date)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The database checks the foreign keys, if the ID doesn't exist, the insert is rejected</a:t>
            </a:r>
            <a:endParaRPr lang="en-US" sz="2000" dirty="0">
              <a:solidFill>
                <a:srgbClr val="C79B63"/>
              </a:solidFill>
            </a:endParaRPr>
          </a:p>
          <a:p>
            <a:endParaRPr lang="en-US" sz="2000" dirty="0">
              <a:solidFill>
                <a:srgbClr val="C79B63"/>
              </a:solidFill>
            </a:endParaRPr>
          </a:p>
          <a:p>
            <a:endParaRPr lang="hu-HU" sz="20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3277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CCD90-96DA-9C58-7F7B-9969BFF9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4F6A0A-D61E-0D54-B7E5-2DEA7ACD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52" y="271394"/>
            <a:ext cx="7141335" cy="95415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C79B63"/>
                </a:solidFill>
                <a:ea typeface="+mj-lt"/>
                <a:cs typeface="+mj-lt"/>
              </a:rPr>
              <a:t>Summary; What We Covered</a:t>
            </a:r>
            <a:endParaRPr lang="hu-HU" sz="4000" b="1" dirty="0">
              <a:solidFill>
                <a:srgbClr val="C79B63"/>
              </a:solidFill>
            </a:endParaRP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DD37822-6805-97A0-6505-A4F0E5A65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14423" y="874644"/>
            <a:ext cx="5471560" cy="4280728"/>
          </a:xfrm>
        </p:spPr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C51B0D3-8D2E-79BF-02DC-1164D151D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552" y="1759226"/>
            <a:ext cx="5756620" cy="4280728"/>
          </a:xfrm>
        </p:spPr>
        <p:txBody>
          <a:bodyPr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4</a:t>
            </a: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 tables: </a:t>
            </a:r>
            <a:r>
              <a:rPr lang="en-US" sz="2000" b="1" dirty="0">
                <a:solidFill>
                  <a:srgbClr val="C79B63"/>
                </a:solidFill>
                <a:latin typeface="Consolas"/>
              </a:rPr>
              <a:t>employees</a:t>
            </a:r>
            <a:r>
              <a:rPr lang="en-US" sz="2000" b="1" dirty="0">
                <a:solidFill>
                  <a:srgbClr val="C79B63"/>
                </a:solidFill>
                <a:ea typeface="+mn-lt"/>
                <a:cs typeface="+mn-lt"/>
              </a:rPr>
              <a:t>,</a:t>
            </a:r>
            <a:r>
              <a:rPr lang="hu-HU" sz="2000" b="1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en-US" sz="2000" b="1" dirty="0">
                <a:solidFill>
                  <a:srgbClr val="C79B63"/>
                </a:solidFill>
                <a:latin typeface="Consolas"/>
              </a:rPr>
              <a:t>services</a:t>
            </a:r>
            <a:r>
              <a:rPr lang="en-US" sz="2000" b="1" dirty="0">
                <a:solidFill>
                  <a:srgbClr val="C79B63"/>
                </a:solidFill>
                <a:ea typeface="+mn-lt"/>
                <a:cs typeface="+mn-lt"/>
              </a:rPr>
              <a:t>, </a:t>
            </a:r>
            <a:r>
              <a:rPr lang="en-US" sz="2000" b="1" dirty="0">
                <a:solidFill>
                  <a:srgbClr val="C79B63"/>
                </a:solidFill>
                <a:latin typeface="Consolas"/>
              </a:rPr>
              <a:t>appointments</a:t>
            </a:r>
            <a:r>
              <a:rPr lang="hu-HU" sz="2000" b="1" dirty="0">
                <a:solidFill>
                  <a:srgbClr val="C79B63"/>
                </a:solidFill>
                <a:latin typeface="Consolas"/>
              </a:rPr>
              <a:t>,</a:t>
            </a:r>
            <a:r>
              <a:rPr lang="hu-HU" sz="2000" b="1" dirty="0" err="1">
                <a:solidFill>
                  <a:srgbClr val="C79B63"/>
                </a:solidFill>
                <a:latin typeface="Consolas"/>
              </a:rPr>
              <a:t>users</a:t>
            </a:r>
            <a:br>
              <a:rPr lang="hu-HU" sz="2000" dirty="0">
                <a:solidFill>
                  <a:srgbClr val="C79B63"/>
                </a:solidFill>
                <a:latin typeface="Consolas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BLOB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stores</a:t>
            </a: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the</a:t>
            </a: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pictures</a:t>
            </a: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 in .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jpeg</a:t>
            </a:r>
            <a: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  <a:t> </a:t>
            </a:r>
            <a:r>
              <a:rPr lang="hu-HU" sz="2000" dirty="0" err="1">
                <a:solidFill>
                  <a:srgbClr val="C79B63"/>
                </a:solidFill>
                <a:ea typeface="+mn-lt"/>
                <a:cs typeface="+mn-lt"/>
              </a:rPr>
              <a:t>format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Foreign keys link tables and enforce data integrity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Data types, NOT NULL, and DEFAULT values keep the data clean and consistent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C79B63"/>
                </a:solidFill>
                <a:ea typeface="+mn-lt"/>
                <a:cs typeface="+mn-lt"/>
              </a:rPr>
              <a:t>The booking flow ties all three tables together into one real-world operation</a:t>
            </a:r>
            <a:br>
              <a:rPr lang="hu-HU" sz="2000" dirty="0">
                <a:solidFill>
                  <a:srgbClr val="C79B63"/>
                </a:solidFill>
                <a:ea typeface="+mn-lt"/>
                <a:cs typeface="+mn-lt"/>
              </a:rPr>
            </a:br>
            <a:endParaRPr lang="en-US" sz="2000" dirty="0">
              <a:solidFill>
                <a:srgbClr val="C79B63"/>
              </a:solidFill>
            </a:endParaRPr>
          </a:p>
          <a:p>
            <a:endParaRPr lang="en-US" sz="20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11311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836B5-B907-855E-07EC-79D16C25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6EEE30-CB27-53AE-A01A-7440A83D1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6198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C79B63"/>
                </a:solidFill>
                <a:ea typeface="+mj-lt"/>
                <a:cs typeface="+mj-lt"/>
              </a:rPr>
              <a:t>Thank you for your time!</a:t>
            </a:r>
            <a:endParaRPr lang="hu-HU" dirty="0">
              <a:solidFill>
                <a:srgbClr val="C79B63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368730C-1723-3723-5DA1-4CC6968FB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C79B63"/>
                </a:solidFill>
              </a:rPr>
              <a:t>If you have any other questions to ask, feel free</a:t>
            </a:r>
          </a:p>
          <a:p>
            <a:endParaRPr lang="hu-HU" sz="3000" dirty="0">
              <a:solidFill>
                <a:srgbClr val="C79B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470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554</Words>
  <Application>Microsoft Office PowerPoint</Application>
  <PresentationFormat>Szélesvásznú</PresentationFormat>
  <Paragraphs>71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Univers Light</vt:lpstr>
      <vt:lpstr>Office-téma</vt:lpstr>
      <vt:lpstr>Cuts &amp; Hustle</vt:lpstr>
      <vt:lpstr>How we split the workforce</vt:lpstr>
      <vt:lpstr>What This Database Does</vt:lpstr>
      <vt:lpstr>Storing Employee Info</vt:lpstr>
      <vt:lpstr>Storing User Info</vt:lpstr>
      <vt:lpstr>What the Services table offers</vt:lpstr>
      <vt:lpstr>Booking an Appointment</vt:lpstr>
      <vt:lpstr>How Tables Connect</vt:lpstr>
      <vt:lpstr>Booking Flow - What Happens Behind the Scenes</vt:lpstr>
      <vt:lpstr>Summary; What We Covered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Sinka</dc:creator>
  <cp:lastModifiedBy>Dominik Sinka</cp:lastModifiedBy>
  <cp:revision>5</cp:revision>
  <dcterms:created xsi:type="dcterms:W3CDTF">2026-05-21T14:14:17Z</dcterms:created>
  <dcterms:modified xsi:type="dcterms:W3CDTF">2026-05-22T10:04:18Z</dcterms:modified>
</cp:coreProperties>
</file>